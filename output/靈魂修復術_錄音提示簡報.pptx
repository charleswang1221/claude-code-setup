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8766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封面主張：本集不是介紹次文化，而是從低解析度的記憶切入成年人對未來的疲勞。
- 使用者提供：C:/Users/siming_wang/Downloads/240p_靈魂修復術.pdf
- Spotify for Creators 匯出資料（2026-01-01 至 2026-08-05）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節目比例依 Spotify 受眾與累積收聽時間分析：文化物件切入成年人焦慮是現階段最應加碼的形式。
- 使用者提供：C:/Users/siming_wang/Downloads/240p_靈魂修復術.pdf
- Spotify for Creators 匯出資料（2026-01-01 至 2026-08-05）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PDF 結尾提問：『手機裡是否存著一張畫質極差、永遠不會發文、卻捨不得刪掉的舊照片？』本頁將它轉成 Podcast 冷開場。
- 使用者提供：C:/Users/siming_wang/Downloads/240p_靈魂修復術.pdf
- Spotify for Creators 匯出資料（2026-01-01 至 2026-08-05）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本頁為使用者明確要求的錄音時段提示。結構依節目規則：單一衝突、前 45 秒兌現、35–45 分鐘。 
- 使用者提供：C:/Users/siming_wang/Downloads/240p_靈魂修復術.pdf
- Spotify for Creators 匯出資料（2026-01-01 至 2026-08-05）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本頁將 PDF 的『抗拒高解析現實』『資本情懷陷阱』轉為兩位主持人的必要對立，避免對談只剩共鳴。
- 使用者提供：C:/Users/siming_wang/Downloads/240p_靈魂修復術.pdf
- Spotify for Creators 匯出資料（2026-01-01 至 2026-08-05）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PDF 的核心概念：Dreamcore、Traumacore、Hauntology、數位疲勞與懷舊商品化。本頁刻意只保留三個可被聽見的證據。 
- 使用者提供：C:/Users/siming_wang/Downloads/240p_靈魂修復術.pdf
- Spotify for Creators 匯出資料（2026-01-01 至 2026-08-05）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PDF 提出『靈魂金繼』。本頁將其對齊節目的金繼原則：裂縫仍在，不強行收束為勵志結論。 
- 使用者提供：C:/Users/siming_wang/Downloads/240p_靈魂修復術.pdf
- Spotify for Creators 匯出資料（2026-01-01 至 2026-08-05）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PDF 最後兩頁的提問改寫為節目收束與社群互動問題。 
- 使用者提供：C:/Users/siming_wang/Downloads/240p_靈魂修復術.pdf
- Spotify for Creators 匯出資料（2026-01-01 至 2026-08-05）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Spotify 資料顯示現階段瓶頸同時存在於曝光→播放與穩定回訪。本頁將這集作為 6 集內容測試之一。 
- 使用者提供：C:/Users/siming_wang/Downloads/240p_靈魂修復術.pdf
- Spotify for Creators 匯出資料（2026-01-01 至 2026-08-05）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240p 數位廢墟主視覺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5" y="0"/>
            <a:ext cx="62388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858000" cy="6858000"/>
          </a:xfrm>
          <a:prstGeom prst="roundRect">
            <a:avLst/>
          </a:prstGeom>
          <a:solidFill>
            <a:srgbClr val="0F02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1"/>
          <p:cNvSpPr/>
          <p:nvPr/>
        </p:nvSpPr>
        <p:spPr>
          <a:xfrm>
            <a:off x="647700" y="781050"/>
            <a:ext cx="40005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E359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不標準答案  S3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7700" y="1381125"/>
            <a:ext cx="5429250" cy="16192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我們不是懷念 2008 年，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是不想面對明天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666750" y="3333750"/>
            <a:ext cx="400050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〈靈魂修復術〉錄音提示簡報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66750" y="3924300"/>
            <a:ext cx="4762500" cy="647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用一張不敢刪的糊照片，聊數位疲勞、懷舊與留下裂縫的必要。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66750" y="5524500"/>
            <a:ext cx="20955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ADD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老查 × 阿分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09600" y="6477000"/>
            <a:ext cx="4191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AA8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不標準答案  /  錄音提示  /  S3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144250" y="6477000"/>
            <a:ext cx="4381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AA8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81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E359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EPISODE ROLE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600" y="819150"/>
            <a:ext cx="1057275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這集是「文化止痛藥」，不是夢核名詞課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09600" y="1562100"/>
            <a:ext cx="914400" cy="0"/>
          </a:xfrm>
          <a:prstGeom prst="line">
            <a:avLst/>
          </a:prstGeom>
          <a:solidFill>
            <a:srgbClr val="FFFFFF">
              <a:alpha val="0"/>
            </a:srgbClr>
          </a:solidFill>
          <a:ln w="50800">
            <a:solidFill>
              <a:srgbClr val="AADD2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09600" y="6477000"/>
            <a:ext cx="4191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AA8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不標準答案  /  錄音提示  /  S3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44250" y="6477000"/>
            <a:ext cx="4381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AA8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600" y="2000250"/>
            <a:ext cx="3429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它在 6 集測試中的位置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09600" y="2571750"/>
            <a:ext cx="3276600" cy="2095500"/>
          </a:xfrm>
          <a:prstGeom prst="roundRect">
            <a:avLst/>
          </a:prstGeom>
          <a:solidFill>
            <a:srgbClr val="815BD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876300" y="2857500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文化止痛藥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76300" y="3333750"/>
            <a:ext cx="123825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AADD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 集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76300" y="3924300"/>
            <a:ext cx="2647950" cy="4762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本集：數位廢墟與低解析度的安心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48150" y="2571750"/>
            <a:ext cx="3276600" cy="2095500"/>
          </a:xfrm>
          <a:prstGeom prst="roundRect">
            <a:avLst/>
          </a:prstGeom>
          <a:solidFill>
            <a:srgbClr val="2A1A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14850" y="2857500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日常規則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14850" y="3333750"/>
            <a:ext cx="123825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AADD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 集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514850" y="3924300"/>
            <a:ext cx="2647950" cy="4762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請假、拒絕、家庭勞動、錢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886700" y="2571750"/>
            <a:ext cx="3276600" cy="2095500"/>
          </a:xfrm>
          <a:prstGeom prst="roundRect">
            <a:avLst/>
          </a:prstGeom>
          <a:solidFill>
            <a:srgbClr val="EE35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8153400" y="2857500"/>
            <a:ext cx="2571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金繼時刻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153400" y="3333750"/>
            <a:ext cx="123825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AADD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 集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153400" y="3924300"/>
            <a:ext cx="2647950" cy="4762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仍未修好的真實裂縫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09600" y="5257800"/>
            <a:ext cx="10096500" cy="3619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錄音決策：只用「240p 的回憶」回答一件事——我們為什麼需要不完美的過去？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81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E359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PROMISE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600" y="819150"/>
            <a:ext cx="1057275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開場先兌現：那張糊照片，到底在替誰留位置？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09600" y="1562100"/>
            <a:ext cx="914400" cy="0"/>
          </a:xfrm>
          <a:prstGeom prst="line">
            <a:avLst/>
          </a:prstGeom>
          <a:solidFill>
            <a:srgbClr val="FFFFFF">
              <a:alpha val="0"/>
            </a:srgbClr>
          </a:solidFill>
          <a:ln w="50800">
            <a:solidFill>
              <a:srgbClr val="AADD2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09600" y="6477000"/>
            <a:ext cx="4191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AA8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不標準答案  /  錄音提示  /  S3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44250" y="6477000"/>
            <a:ext cx="4381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AA8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600" y="2019300"/>
            <a:ext cx="3714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開場 45 秒只做一件事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09600" y="2571750"/>
            <a:ext cx="7239000" cy="2190750"/>
          </a:xfrm>
          <a:prstGeom prst="roundRect">
            <a:avLst/>
          </a:prstGeom>
          <a:solidFill>
            <a:srgbClr val="1A0A45"/>
          </a:solidFill>
          <a:ln w="12700">
            <a:solidFill>
              <a:srgbClr val="815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914400" y="3009900"/>
            <a:ext cx="6477000" cy="7810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「我手機裡有一張很糊、永遠不會發文，卻一直捨不得刪的照片。」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4000500"/>
            <a:ext cx="6191250" cy="5143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先說畫面、當時的人、你為什麼還留著。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不要說『今天要聊 Dreamcore』，也不要先介紹理論。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86750" y="2571750"/>
            <a:ext cx="3143250" cy="2190750"/>
          </a:xfrm>
          <a:prstGeom prst="roundRect">
            <a:avLst/>
          </a:prstGeom>
          <a:solidFill>
            <a:srgbClr val="090314"/>
          </a:solidFill>
          <a:ln w="12700">
            <a:solidFill>
              <a:srgbClr val="EE359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8572500" y="2876550"/>
            <a:ext cx="2190750" cy="495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E359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錄音前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EE359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各自準備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572500" y="3638550"/>
            <a:ext cx="2190750" cy="8001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 個糊檔案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 段真實記憶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 個不想回答的問題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81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E359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40-MINUTE ROUTE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600" y="819150"/>
            <a:ext cx="1057275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一條路走到底：從糊照片走回現實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09600" y="1562100"/>
            <a:ext cx="914400" cy="0"/>
          </a:xfrm>
          <a:prstGeom prst="line">
            <a:avLst/>
          </a:prstGeom>
          <a:solidFill>
            <a:srgbClr val="FFFFFF">
              <a:alpha val="0"/>
            </a:srgbClr>
          </a:solidFill>
          <a:ln w="50800">
            <a:solidFill>
              <a:srgbClr val="AADD2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09600" y="6477000"/>
            <a:ext cx="4191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AA8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不標準答案  /  錄音提示  /  S3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44250" y="6477000"/>
            <a:ext cx="4381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AA8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600" y="2286000"/>
            <a:ext cx="2400300" cy="2762250"/>
          </a:xfrm>
          <a:prstGeom prst="roundRect">
            <a:avLst/>
          </a:prstGeom>
          <a:solidFill>
            <a:srgbClr val="1A0A45"/>
          </a:solidFill>
          <a:ln w="12700">
            <a:solidFill>
              <a:srgbClr val="815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57250" y="2552700"/>
            <a:ext cx="72390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ADD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57250" y="3105150"/>
            <a:ext cx="1905000" cy="552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一張糊照片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57250" y="3943350"/>
            <a:ext cx="19050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兩人各自講真實物件。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先讓聽眾認出自己。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90900" y="2286000"/>
            <a:ext cx="2400300" cy="2762250"/>
          </a:xfrm>
          <a:prstGeom prst="roundRect">
            <a:avLst/>
          </a:prstGeom>
          <a:solidFill>
            <a:srgbClr val="2A1A5E"/>
          </a:solidFill>
          <a:ln w="12700">
            <a:solidFill>
              <a:srgbClr val="EE359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638550" y="2552700"/>
            <a:ext cx="72390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ADD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38550" y="3105150"/>
            <a:ext cx="1905000" cy="552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這是在療癒還是逃避？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38550" y="3943350"/>
            <a:ext cx="19050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一人替懷舊辯護，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一人追問它的代價。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172200" y="2286000"/>
            <a:ext cx="2400300" cy="2762250"/>
          </a:xfrm>
          <a:prstGeom prst="roundRect">
            <a:avLst/>
          </a:prstGeom>
          <a:solidFill>
            <a:srgbClr val="1A0A45"/>
          </a:solidFill>
          <a:ln w="12700">
            <a:solidFill>
              <a:srgbClr val="815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419850" y="2552700"/>
            <a:ext cx="72390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ADD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19850" y="3105150"/>
            <a:ext cx="1905000" cy="552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誰把痛苦賣給我們？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19850" y="3943350"/>
            <a:ext cx="19050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CCD、懷舊、AI 完美濾鏡。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只講跟自己有關的。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953500" y="2286000"/>
            <a:ext cx="2400300" cy="2762250"/>
          </a:xfrm>
          <a:prstGeom prst="roundRect">
            <a:avLst/>
          </a:prstGeom>
          <a:solidFill>
            <a:srgbClr val="1A0A45"/>
          </a:solidFill>
          <a:ln w="12700">
            <a:solidFill>
              <a:srgbClr val="815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9201150" y="2552700"/>
            <a:ext cx="72390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ADD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01150" y="3105150"/>
            <a:ext cx="1905000" cy="552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留下哪一道裂縫？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201150" y="3943350"/>
            <a:ext cx="190500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不給步驟，只留下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聽眾能帶走的問題。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76300" y="5314950"/>
            <a:ext cx="161925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AA8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0–5 分鐘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638550" y="5314950"/>
            <a:ext cx="161925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AA8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5–18 分鐘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0" y="5314950"/>
            <a:ext cx="161925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AA8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18–30 分鐘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63050" y="5314950"/>
            <a:ext cx="161925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AA8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30–40 分鐘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81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E359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HOST TENSION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600" y="819150"/>
            <a:ext cx="1057275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阿分守住溫柔，老查負責追問：這不是逃避嗎？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09600" y="1562100"/>
            <a:ext cx="914400" cy="0"/>
          </a:xfrm>
          <a:prstGeom prst="line">
            <a:avLst/>
          </a:prstGeom>
          <a:solidFill>
            <a:srgbClr val="FFFFFF">
              <a:alpha val="0"/>
            </a:srgbClr>
          </a:solidFill>
          <a:ln w="50800">
            <a:solidFill>
              <a:srgbClr val="AADD2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09600" y="6477000"/>
            <a:ext cx="4191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AA8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不標準答案  /  錄音提示  /  S3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44250" y="6477000"/>
            <a:ext cx="4381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AA8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600" y="2076450"/>
            <a:ext cx="5143500" cy="3143250"/>
          </a:xfrm>
          <a:prstGeom prst="roundRect">
            <a:avLst/>
          </a:prstGeom>
          <a:solidFill>
            <a:srgbClr val="1A0A45"/>
          </a:solidFill>
          <a:ln w="12700">
            <a:solidFill>
              <a:srgbClr val="815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6438900" y="2076450"/>
            <a:ext cx="5143500" cy="3143250"/>
          </a:xfrm>
          <a:prstGeom prst="roundRect">
            <a:avLst/>
          </a:prstGeom>
          <a:solidFill>
            <a:srgbClr val="1A0A45"/>
          </a:solidFill>
          <a:ln w="12700">
            <a:solidFill>
              <a:srgbClr val="EE359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933450" y="2419350"/>
            <a:ext cx="3333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AADD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阿分的立場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33450" y="3095626"/>
            <a:ext cx="4000500" cy="1047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有些低解析度的東西，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不是退步，是心裡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還能暫時躲一下的地方。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33450" y="4400550"/>
            <a:ext cx="40005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追問：為什麼我們對從未經歷的時代，也會有鄉愁？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62750" y="2419350"/>
            <a:ext cx="3333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E359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老查的立場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762750" y="3048000"/>
            <a:ext cx="4000500" cy="1047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懷舊很好，但如果它只讓你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更不想回來，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那我們到底在修復什麼？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762750" y="4400550"/>
            <a:ext cx="40005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追問：誰從你的痛苦、回憶與焦慮裡賺錢？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81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E359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THREE PIECES OF EVIDENCE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600" y="819150"/>
            <a:ext cx="1057275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素材只能留 3 個；再多，聽眾只會記得名詞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09600" y="1562100"/>
            <a:ext cx="914400" cy="0"/>
          </a:xfrm>
          <a:prstGeom prst="line">
            <a:avLst/>
          </a:prstGeom>
          <a:solidFill>
            <a:srgbClr val="FFFFFF">
              <a:alpha val="0"/>
            </a:srgbClr>
          </a:solidFill>
          <a:ln w="50800">
            <a:solidFill>
              <a:srgbClr val="AADD2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09600" y="6477000"/>
            <a:ext cx="4191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AA8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不標準答案  /  錄音提示  /  S3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44250" y="6477000"/>
            <a:ext cx="4381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AA8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600" y="2095500"/>
            <a:ext cx="10858500" cy="838200"/>
          </a:xfrm>
          <a:prstGeom prst="roundRect">
            <a:avLst/>
          </a:prstGeom>
          <a:solidFill>
            <a:srgbClr val="1A0A45"/>
          </a:solidFill>
          <a:ln w="12700">
            <a:solidFill>
              <a:srgbClr val="815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76300" y="2286000"/>
            <a:ext cx="23812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低解析度回憶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3381375" y="2286000"/>
            <a:ext cx="2952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ADD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Dreamcore／舊照片／空蕩空間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72250" y="2247900"/>
            <a:ext cx="4476750" cy="4191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為什麼『不清楚』反而讓人覺得安全？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9600" y="3162300"/>
            <a:ext cx="10858500" cy="838200"/>
          </a:xfrm>
          <a:prstGeom prst="roundRect">
            <a:avLst/>
          </a:prstGeom>
          <a:solidFill>
            <a:srgbClr val="2A1A5E"/>
          </a:solidFill>
          <a:ln w="12700">
            <a:solidFill>
              <a:srgbClr val="EE359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876300" y="3352800"/>
            <a:ext cx="23812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創傷不是美學道具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381375" y="3352800"/>
            <a:ext cx="2952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ADD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Traumacore／可怕與可愛並存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72250" y="3314700"/>
            <a:ext cx="4476750" cy="4191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它可以被理解，但不能拿來替真實傷口打分數。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9600" y="4229100"/>
            <a:ext cx="10858500" cy="838200"/>
          </a:xfrm>
          <a:prstGeom prst="roundRect">
            <a:avLst/>
          </a:prstGeom>
          <a:solidFill>
            <a:srgbClr val="1A0A45"/>
          </a:solidFill>
          <a:ln w="12700">
            <a:solidFill>
              <a:srgbClr val="815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876300" y="4419600"/>
            <a:ext cx="23812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懷舊會被拿去販售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3381375" y="4419600"/>
            <a:ext cx="2952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ADD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CCD、復古商品、演算法審美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72250" y="4381500"/>
            <a:ext cx="4476750" cy="4191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當痛苦成為流量密碼，誰還有權保留自己的記憶？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09600" y="5715000"/>
            <a:ext cx="1028700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E359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不要再加 The Caretaker、無人結合、年代考據；它們只能在需要時補一句。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81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E359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LINE WE DO NOT CROSS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600" y="819150"/>
            <a:ext cx="1057275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創傷不是美學；療癒也不是答案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09600" y="1562100"/>
            <a:ext cx="914400" cy="0"/>
          </a:xfrm>
          <a:prstGeom prst="line">
            <a:avLst/>
          </a:prstGeom>
          <a:solidFill>
            <a:srgbClr val="FFFFFF">
              <a:alpha val="0"/>
            </a:srgbClr>
          </a:solidFill>
          <a:ln w="50800">
            <a:solidFill>
              <a:srgbClr val="AADD2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09600" y="6477000"/>
            <a:ext cx="4191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AA8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不標準答案  /  錄音提示  /  S3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44250" y="6477000"/>
            <a:ext cx="4381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AA8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07</a:t>
            </a:r>
            <a:endParaRPr lang="en-US" sz="1300" dirty="0"/>
          </a:p>
        </p:txBody>
      </p:sp>
      <p:pic>
        <p:nvPicPr>
          <p:cNvPr id="7" name="Image 0" descr="金繼心臟意象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19300"/>
            <a:ext cx="4114800" cy="3429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238750" y="2247900"/>
            <a:ext cx="6096000" cy="1238250"/>
          </a:xfrm>
          <a:prstGeom prst="roundRect">
            <a:avLst/>
          </a:prstGeom>
          <a:solidFill>
            <a:srgbClr val="1A0A45"/>
          </a:solidFill>
          <a:ln w="12700">
            <a:solidFill>
              <a:srgbClr val="815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5562600" y="2571750"/>
            <a:ext cx="514350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可以講：一個人怎麼替自己保留粗糙、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沒有整理好的空間。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238750" y="3829050"/>
            <a:ext cx="6096000" cy="1238250"/>
          </a:xfrm>
          <a:prstGeom prst="roundRect">
            <a:avLst/>
          </a:prstGeom>
          <a:solidFill>
            <a:srgbClr val="090314"/>
          </a:solidFill>
          <a:ln w="12700">
            <a:solidFill>
              <a:srgbClr val="EE359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5562600" y="4152900"/>
            <a:ext cx="514350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不要講：痛苦讓人更有品味，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或只要接納自己就會被修好。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238750" y="5543550"/>
            <a:ext cx="590550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AADD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真實經驗可以停在『我還不知道怎麼辦』，那才是金繼。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81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E359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ENDING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600" y="819150"/>
            <a:ext cx="1057275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最後不教人刪照片，只把問題留在手機裡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09600" y="1562100"/>
            <a:ext cx="914400" cy="0"/>
          </a:xfrm>
          <a:prstGeom prst="line">
            <a:avLst/>
          </a:prstGeom>
          <a:solidFill>
            <a:srgbClr val="FFFFFF">
              <a:alpha val="0"/>
            </a:srgbClr>
          </a:solidFill>
          <a:ln w="50800">
            <a:solidFill>
              <a:srgbClr val="AADD2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09600" y="6477000"/>
            <a:ext cx="4191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AA8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不標準答案  /  錄音提示  /  S3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44250" y="6477000"/>
            <a:ext cx="4381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AA8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08</a:t>
            </a:r>
            <a:endParaRPr lang="en-US" sz="1300" dirty="0"/>
          </a:p>
        </p:txBody>
      </p:sp>
      <p:pic>
        <p:nvPicPr>
          <p:cNvPr id="7" name="Image 0" descr="手機裡不敢刪的舊照片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4500"/>
            <a:ext cx="12192000" cy="47625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1714500"/>
            <a:ext cx="12192000" cy="4762500"/>
          </a:xfrm>
          <a:prstGeom prst="roundRect">
            <a:avLst/>
          </a:prstGeom>
          <a:solidFill>
            <a:srgbClr val="0F0235">
              <a:alpha val="4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1428750" y="2962275"/>
            <a:ext cx="9334500" cy="12001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「你手機裡，是不是也有一張畫質很差、</a:t>
            </a:r>
            <a:endParaRPr lang="en-US" sz="3900" dirty="0"/>
          </a:p>
          <a:p>
            <a:pPr marL="0" indent="0" algn="ctr">
              <a:buNone/>
            </a:pPr>
            <a:r>
              <a:rPr lang="en-US" sz="39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永遠不會發文，卻捨不得刪掉的舊照片？」</a:t>
            </a:r>
            <a:endParaRPr lang="en-US" sz="3900" dirty="0"/>
          </a:p>
        </p:txBody>
      </p:sp>
      <p:sp>
        <p:nvSpPr>
          <p:cNvPr id="10" name="Text 7"/>
          <p:cNvSpPr/>
          <p:nvPr/>
        </p:nvSpPr>
        <p:spPr>
          <a:xfrm>
            <a:off x="2286000" y="5362575"/>
            <a:ext cx="7620000" cy="4000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AADD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那裡，藏著你對未來的哪一種恐懼？</a:t>
            </a:r>
            <a:endParaRPr lang="en-US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81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E359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AFTER RECORDING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600" y="819150"/>
            <a:ext cx="1057275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上架前，確認聽眾能帶走自己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09600" y="1562100"/>
            <a:ext cx="914400" cy="0"/>
          </a:xfrm>
          <a:prstGeom prst="line">
            <a:avLst/>
          </a:prstGeom>
          <a:solidFill>
            <a:srgbClr val="FFFFFF">
              <a:alpha val="0"/>
            </a:srgbClr>
          </a:solidFill>
          <a:ln w="50800">
            <a:solidFill>
              <a:srgbClr val="AADD2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09600" y="6477000"/>
            <a:ext cx="4191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AA8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不標準答案  /  錄音提示  /  S3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44250" y="6477000"/>
            <a:ext cx="4381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AA8B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09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600" y="2324100"/>
            <a:ext cx="2400300" cy="2476500"/>
          </a:xfrm>
          <a:prstGeom prst="roundRect">
            <a:avLst/>
          </a:prstGeom>
          <a:solidFill>
            <a:srgbClr val="2A1A5E"/>
          </a:solidFill>
          <a:ln w="12700">
            <a:solidFill>
              <a:srgbClr val="EE359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38200" y="2571750"/>
            <a:ext cx="571500" cy="2381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ADD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200" y="3028950"/>
            <a:ext cx="1762125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標題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38200" y="3619500"/>
            <a:ext cx="1905000" cy="704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只剩一個衝突：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懷念過去，還是害怕明天？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90900" y="2324100"/>
            <a:ext cx="2400300" cy="2476500"/>
          </a:xfrm>
          <a:prstGeom prst="roundRect">
            <a:avLst/>
          </a:prstGeom>
          <a:solidFill>
            <a:srgbClr val="1A0A45"/>
          </a:solidFill>
          <a:ln w="12700">
            <a:solidFill>
              <a:srgbClr val="815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619500" y="2571750"/>
            <a:ext cx="571500" cy="2381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ADD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19500" y="3028950"/>
            <a:ext cx="1762125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開頭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19500" y="3619500"/>
            <a:ext cx="1905000" cy="704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45 秒內出現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真實照片或物件。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172200" y="2324100"/>
            <a:ext cx="2400300" cy="2476500"/>
          </a:xfrm>
          <a:prstGeom prst="roundRect">
            <a:avLst/>
          </a:prstGeom>
          <a:solidFill>
            <a:srgbClr val="1A0A45"/>
          </a:solidFill>
          <a:ln w="12700">
            <a:solidFill>
              <a:srgbClr val="815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400800" y="2571750"/>
            <a:ext cx="571500" cy="2381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ADD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3028950"/>
            <a:ext cx="1762125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短影音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0" y="3619500"/>
            <a:ext cx="1905000" cy="704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剪出『4K 標準／240p 靈魂』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與『不敢刪的照片』兩支。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953500" y="2324100"/>
            <a:ext cx="2400300" cy="2476500"/>
          </a:xfrm>
          <a:prstGeom prst="roundRect">
            <a:avLst/>
          </a:prstGeom>
          <a:solidFill>
            <a:srgbClr val="1A0A45"/>
          </a:solidFill>
          <a:ln w="12700">
            <a:solidFill>
              <a:srgbClr val="815B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9182100" y="2571750"/>
            <a:ext cx="571500" cy="2381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ADD2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82100" y="3028950"/>
            <a:ext cx="1762125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複盤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82100" y="3619500"/>
            <a:ext cx="1905000" cy="704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 天後看播放、收聽時間、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CAC0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曝光→播放；先不迷信 0% 完聽。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09600" y="5448300"/>
            <a:ext cx="10572750" cy="4000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這不是一集『療癒內容』；它是一次測試：文化入口能不能讓人留下來，談自己的生活。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793</Words>
  <Application>Microsoft Office PowerPoint</Application>
  <PresentationFormat>寬螢幕</PresentationFormat>
  <Paragraphs>143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2" baseType="lpstr">
      <vt:lpstr>Noto Sans TC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靈魂修復術｜錄音提示簡報</dc:title>
  <dc:subject>靈魂修復術錄音提示簡報</dc:subject>
  <dc:creator>不標準答案</dc:creator>
  <cp:lastModifiedBy>Siming Wang(王士銘)</cp:lastModifiedBy>
  <cp:revision>2</cp:revision>
  <dcterms:created xsi:type="dcterms:W3CDTF">2026-08-05T07:43:18Z</dcterms:created>
  <dcterms:modified xsi:type="dcterms:W3CDTF">2026-08-05T07:48:24Z</dcterms:modified>
</cp:coreProperties>
</file>